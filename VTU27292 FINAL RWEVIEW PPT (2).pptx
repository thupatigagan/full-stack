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74" r:id="rId13"/>
    <p:sldId id="275" r:id="rId14"/>
    <p:sldId id="276" r:id="rId15"/>
    <p:sldId id="277"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ADVANCED CAREER PORTAL FOR STUDENTS EMPLOYERS</a:t>
            </a:r>
          </a:p>
        </p:txBody>
      </p:sp>
      <p:sp>
        <p:nvSpPr>
          <p:cNvPr id="14" name="TextBox 13"/>
          <p:cNvSpPr txBox="1"/>
          <p:nvPr/>
        </p:nvSpPr>
        <p:spPr>
          <a:xfrm>
            <a:off x="893870" y="7800539"/>
            <a:ext cx="9067800"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altLang="en-US" sz="3000" dirty="0">
                <a:latin typeface="Cambria" panose="02040503050406030204" pitchFamily="18" charset="0"/>
                <a:ea typeface="Cambria" panose="02040503050406030204" pitchFamily="18" charset="0"/>
              </a:rPr>
              <a:t>T.Gagan</a:t>
            </a:r>
            <a:r>
              <a:rPr lang="en-US" sz="3000" dirty="0">
                <a:latin typeface="Cambria" panose="02040503050406030204" pitchFamily="18" charset="0"/>
                <a:ea typeface="Cambria" panose="02040503050406030204" pitchFamily="18" charset="0"/>
              </a:rPr>
              <a:t> – </a:t>
            </a:r>
            <a:r>
              <a:rPr lang="en-US" sz="3000" dirty="0" err="1">
                <a:latin typeface="Cambria" panose="02040503050406030204" pitchFamily="18" charset="0"/>
                <a:ea typeface="Cambria" panose="02040503050406030204" pitchFamily="18" charset="0"/>
              </a:rPr>
              <a:t>VTU</a:t>
            </a:r>
            <a:r>
              <a:rPr lang="en-IN" altLang="en-US" sz="3000" dirty="0" err="1">
                <a:latin typeface="Cambria" panose="02040503050406030204" pitchFamily="18" charset="0"/>
                <a:ea typeface="Cambria" panose="02040503050406030204" pitchFamily="18" charset="0"/>
              </a:rPr>
              <a:t>27292</a:t>
            </a:r>
            <a:r>
              <a:rPr lang="en-US" sz="3000" dirty="0">
                <a:latin typeface="Cambria" panose="02040503050406030204" pitchFamily="18" charset="0"/>
                <a:ea typeface="Cambria" panose="02040503050406030204" pitchFamily="18" charset="0"/>
              </a:rPr>
              <a:t> – </a:t>
            </a:r>
            <a:r>
              <a:rPr lang="en-US" sz="3000" dirty="0" err="1">
                <a:latin typeface="Cambria" panose="02040503050406030204" pitchFamily="18" charset="0"/>
                <a:ea typeface="Cambria" panose="02040503050406030204" pitchFamily="18" charset="0"/>
              </a:rPr>
              <a:t>Reg.No</a:t>
            </a:r>
            <a:r>
              <a:rPr lang="en-US" sz="3000" dirty="0">
                <a:latin typeface="Cambria" panose="02040503050406030204" pitchFamily="18" charset="0"/>
                <a:ea typeface="Cambria" panose="02040503050406030204" pitchFamily="18" charset="0"/>
              </a:rPr>
              <a:t>.</a:t>
            </a:r>
            <a:r>
              <a:rPr lang="en-IN" altLang="en-US" sz="3000" dirty="0">
                <a:latin typeface="Cambria" panose="02040503050406030204" pitchFamily="18" charset="0"/>
                <a:ea typeface="Cambria" panose="02040503050406030204" pitchFamily="18" charset="0"/>
              </a:rPr>
              <a:t>23UECS0572</a:t>
            </a:r>
          </a:p>
        </p:txBody>
      </p:sp>
      <p:sp>
        <p:nvSpPr>
          <p:cNvPr id="15" name="TextBox 14"/>
          <p:cNvSpPr txBox="1"/>
          <p:nvPr/>
        </p:nvSpPr>
        <p:spPr>
          <a:xfrm>
            <a:off x="10945035" y="7818586"/>
            <a:ext cx="6914603" cy="21685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Dr.Mrs.</a:t>
            </a:r>
            <a:r>
              <a:rPr lang="en-IN" altLang="en-US" sz="3000" dirty="0">
                <a:latin typeface="Cambria" panose="02040503050406030204" pitchFamily="18" charset="0"/>
                <a:ea typeface="Cambria" panose="02040503050406030204" pitchFamily="18" charset="0"/>
              </a:rPr>
              <a:t>S.Hemamalini</a:t>
            </a:r>
            <a:r>
              <a:rPr lang="en-US" sz="3000" dirty="0">
                <a:latin typeface="Cambria" panose="02040503050406030204" pitchFamily="18" charset="0"/>
                <a:ea typeface="Cambria" panose="02040503050406030204" pitchFamily="18" charset="0"/>
              </a:rPr>
              <a:t> </a:t>
            </a:r>
          </a:p>
          <a:p>
            <a:pPr>
              <a:lnSpc>
                <a:spcPct val="150000"/>
              </a:lnSpc>
            </a:pPr>
            <a:r>
              <a:rPr lang="en-IN" sz="3000" dirty="0">
                <a:latin typeface="Cambria" panose="02040503050406030204" pitchFamily="18" charset="0"/>
                <a:ea typeface="Cambria" panose="02040503050406030204" pitchFamily="18" charset="0"/>
              </a:rPr>
              <a:t>Assistant Professor(Senior grade)</a:t>
            </a: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a:t>
            </a:r>
            <a:r>
              <a:rPr lang="en-US" sz="2000" b="1">
                <a:latin typeface="Cambria" panose="02040503050406030204" pitchFamily="18" charset="0"/>
                <a:ea typeface="Cambria" panose="02040503050406030204" pitchFamily="18" charset="0"/>
              </a:rPr>
              <a:t>: SDG  9 –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5082325" cy="12156440"/>
          </a:xfrm>
          <a:prstGeom prst="rect">
            <a:avLst/>
          </a:prstGeom>
          <a:noFill/>
        </p:spPr>
        <p:txBody>
          <a:bodyPr wrap="square" rtlCol="0">
            <a:spAutoFit/>
          </a:bodyPr>
          <a:lstStyle/>
          <a:p>
            <a:pPr indent="0">
              <a:buFontTx/>
              <a:buNone/>
            </a:pPr>
            <a:endParaRPr lang="en-US" sz="2800" dirty="0"/>
          </a:p>
          <a:p>
            <a:pPr marL="457200" indent="-457200">
              <a:buFont typeface="Wingdings" panose="05000000000000000000" charset="0"/>
              <a:buChar char="Ø"/>
            </a:pPr>
            <a:r>
              <a:rPr lang="en-IN" altLang="en-US" sz="2800" dirty="0">
                <a:latin typeface="Times New Roman" panose="02020603050405020304" pitchFamily="18" charset="0"/>
                <a:cs typeface="Times New Roman" panose="02020603050405020304" pitchFamily="18" charset="0"/>
              </a:rPr>
              <a:t>T</a:t>
            </a:r>
            <a:r>
              <a:rPr lang="en-US" altLang="en-US" sz="2800" dirty="0">
                <a:latin typeface="Times New Roman" panose="02020603050405020304" pitchFamily="18" charset="0"/>
                <a:cs typeface="Times New Roman" panose="02020603050405020304" pitchFamily="18" charset="0"/>
              </a:rPr>
              <a:t>raditional recruitment and placement processes in many colleges and organizations are still handled manually, making them time-consuming and difficult to manage.</a:t>
            </a:r>
            <a:r>
              <a:rPr lang="en-US" sz="2800" dirty="0">
                <a:latin typeface="Times New Roman" panose="02020603050405020304" pitchFamily="18" charset="0"/>
                <a:cs typeface="Times New Roman" panose="02020603050405020304" pitchFamily="18" charset="0"/>
              </a:rPr>
              <a:t>Why this project is important</a:t>
            </a: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Manual handling of job postings, applications, and candidate tracking often leads to delays and errors</a:t>
            </a:r>
            <a:r>
              <a:rPr lang="en-IN" altLang="en-US" sz="2800" dirty="0">
                <a:latin typeface="Times New Roman" panose="02020603050405020304" pitchFamily="18" charset="0"/>
                <a:cs typeface="Times New Roman" panose="02020603050405020304" pitchFamily="18" charset="0"/>
              </a:rPr>
              <a:t>.</a:t>
            </a: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This project is important because it automates the recruitment workflow through a centralized online platform.</a:t>
            </a: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It reduces paperwork, improves efficiency, and helps manage recruitment data more accurately.</a:t>
            </a: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The system has real-world relevance for colleges, placement cells, recruitment agencies, and organizations.</a:t>
            </a: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Students can create profiles, upload resumes, search for jobs, and apply online.</a:t>
            </a: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Employers can post job openings, review applications, and shortlist candidates efficiently.</a:t>
            </a: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Overall, the Advanced Career Portal provides a simple and effective digital solution for modern recruitment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p:cNvSpPr txBox="1"/>
          <p:nvPr/>
        </p:nvSpPr>
        <p:spPr>
          <a:xfrm>
            <a:off x="2209800" y="1638300"/>
            <a:ext cx="15082325" cy="12033250"/>
          </a:xfrm>
          <a:prstGeom prst="rect">
            <a:avLst/>
          </a:prstGeom>
          <a:noFill/>
        </p:spPr>
        <p:txBody>
          <a:bodyPr wrap="square" rtlCol="0">
            <a:spAutoFit/>
          </a:bodyPr>
          <a:lstStyle/>
          <a:p>
            <a:pPr marL="457200" indent="-457200">
              <a:buFontTx/>
              <a:buChar char="-"/>
            </a:pPr>
            <a:endParaRPr lang="en-US" altLang="en-US" sz="2800" dirty="0"/>
          </a:p>
          <a:p>
            <a:pPr marL="457200" indent="-457200">
              <a:buFontTx/>
              <a:buChar char="-"/>
            </a:pPr>
            <a:endParaRPr lang="en-US" altLang="en-US" sz="2800" dirty="0"/>
          </a:p>
          <a:p>
            <a:pPr indent="0">
              <a:buFontTx/>
              <a:buNone/>
            </a:pPr>
            <a:r>
              <a:rPr lang="en-US" altLang="en-US" sz="3200" dirty="0">
                <a:latin typeface="Times New Roman" panose="02020603050405020304" pitchFamily="18" charset="0"/>
                <a:cs typeface="Times New Roman" panose="02020603050405020304" pitchFamily="18" charset="0"/>
              </a:rPr>
              <a:t>In many colleges and organizations, recruitment and placement activities are not fully automated and often rely on manual processes. This leads to inefficiency in managing job postings, applicant data, and recruitment workflows. Students may face difficulties in finding suitable job opportunities and tracking their applications. Employers may experience delays in reviewing applications and shortlisting candidates. Manual recruitment methods can also result in data mismanagement and increased administrative workload. There is a need for a simple, reliable, and automated recruitment platform to streamline the hiring process. The proposed Advanced Career Portal addresses these challenges by providing a centralized digital system for efficient recruitment and placement management.</a:t>
            </a: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Box 5"/>
          <p:cNvSpPr txBox="1"/>
          <p:nvPr/>
        </p:nvSpPr>
        <p:spPr>
          <a:xfrm>
            <a:off x="2209800" y="1638300"/>
            <a:ext cx="15082325" cy="12156440"/>
          </a:xfrm>
          <a:prstGeom prst="rect">
            <a:avLst/>
          </a:prstGeom>
          <a:noFill/>
        </p:spPr>
        <p:txBody>
          <a:bodyPr wrap="square" rtlCol="0">
            <a:spAutoFit/>
          </a:bodyPr>
          <a:lstStyle/>
          <a:p>
            <a:pPr marL="457200" indent="-457200">
              <a:buFont typeface="Wingdings" panose="05000000000000000000" charset="0"/>
              <a:buChar char="Ø"/>
            </a:pPr>
            <a:r>
              <a:rPr lang="en-IN" altLang="en-US" sz="3200" dirty="0">
                <a:latin typeface="Times New Roman" panose="02020603050405020304" pitchFamily="18" charset="0"/>
                <a:cs typeface="Times New Roman" panose="02020603050405020304" pitchFamily="18" charset="0"/>
              </a:rPr>
              <a:t>T</a:t>
            </a:r>
            <a:r>
              <a:rPr lang="en-US" altLang="en-US" sz="3200" dirty="0">
                <a:latin typeface="Times New Roman" panose="02020603050405020304" pitchFamily="18" charset="0"/>
                <a:cs typeface="Times New Roman" panose="02020603050405020304" pitchFamily="18" charset="0"/>
              </a:rPr>
              <a:t>o develop a web-based recruitment platform that connects students/job seekers with employers through a centralized system.</a:t>
            </a:r>
          </a:p>
          <a:p>
            <a:pPr marL="457200" indent="-457200">
              <a:buFont typeface="Wingdings" panose="05000000000000000000" charset="0"/>
              <a:buChar char="Ø"/>
            </a:pPr>
            <a:endParaRPr lang="en-US" alt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endParaRPr lang="en-US" alt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3200" dirty="0">
                <a:latin typeface="Times New Roman" panose="02020603050405020304" pitchFamily="18" charset="0"/>
                <a:cs typeface="Times New Roman" panose="02020603050405020304" pitchFamily="18" charset="0"/>
              </a:rPr>
              <a:t>To automate job posting, application tracking, and candidate management for improving recruitment efficiency.</a:t>
            </a:r>
          </a:p>
          <a:p>
            <a:pPr marL="457200" indent="-457200">
              <a:buFont typeface="Wingdings" panose="05000000000000000000" charset="0"/>
              <a:buChar char="Ø"/>
            </a:pPr>
            <a:endParaRPr lang="en-US" alt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endParaRPr lang="en-US" alt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3200" dirty="0">
                <a:latin typeface="Times New Roman" panose="02020603050405020304" pitchFamily="18" charset="0"/>
                <a:cs typeface="Times New Roman" panose="02020603050405020304" pitchFamily="18" charset="0"/>
              </a:rPr>
              <a:t>To provide a secure and user-friendly platform for managing placement and hiring activities digitally.</a:t>
            </a:r>
          </a:p>
          <a:p>
            <a:pPr marL="457200" indent="-457200">
              <a:buFont typeface="Wingdings" panose="05000000000000000000" charset="0"/>
              <a:buChar char="Ø"/>
            </a:pPr>
            <a:endParaRPr lang="en-US" alt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endParaRPr lang="en-US" alt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133600" y="647700"/>
            <a:ext cx="15082325" cy="13695045"/>
          </a:xfrm>
          <a:prstGeom prst="rect">
            <a:avLst/>
          </a:prstGeom>
          <a:noFill/>
        </p:spPr>
        <p:txBody>
          <a:bodyPr wrap="square" rtlCol="0">
            <a:spAutoFit/>
          </a:bodyPr>
          <a:lstStyle/>
          <a:p>
            <a:pPr marL="457200" indent="-457200">
              <a:buFontTx/>
              <a:buChar char="-"/>
            </a:pPr>
            <a:endParaRPr lang="en-US" altLang="en-US" sz="2800" dirty="0"/>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The proposed system is a web-based Advanced Career Portal designed for managing recruitment and placement activities digitally.</a:t>
            </a:r>
          </a:p>
          <a:p>
            <a:pPr marL="457200" indent="-457200">
              <a:buFont typeface="Wingdings" panose="05000000000000000000" charset="0"/>
              <a:buChar char="Ø"/>
            </a:pPr>
            <a:endParaRPr lang="en-US" alt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It provides a centralized platform where students can create profiles, upload resumes, search jobs, and apply online.</a:t>
            </a:r>
          </a:p>
          <a:p>
            <a:pPr marL="457200" indent="-457200">
              <a:buFont typeface="Wingdings" panose="05000000000000000000" charset="0"/>
              <a:buChar char="Ø"/>
            </a:pPr>
            <a:endParaRPr lang="en-US" alt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Employers can post job vacancies, review applicants, and shortlist candidates efficiently.</a:t>
            </a:r>
          </a:p>
          <a:p>
            <a:pPr marL="457200" indent="-457200">
              <a:buFont typeface="Wingdings" panose="05000000000000000000" charset="0"/>
              <a:buChar char="Ø"/>
            </a:pPr>
            <a:endParaRPr lang="en-US" alt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The system automates recruitment workflows, reducing manual effort and paperwork.</a:t>
            </a:r>
          </a:p>
          <a:p>
            <a:pPr marL="457200" indent="-457200">
              <a:buFont typeface="Wingdings" panose="05000000000000000000" charset="0"/>
              <a:buChar char="Ø"/>
            </a:pPr>
            <a:endParaRPr lang="en-US" alt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It improves data accuracy by storing all recruitment information in a structured database.</a:t>
            </a:r>
          </a:p>
          <a:p>
            <a:pPr marL="457200" indent="-457200">
              <a:buFont typeface="Wingdings" panose="05000000000000000000" charset="0"/>
              <a:buChar char="Ø"/>
            </a:pPr>
            <a:endParaRPr lang="en-US" alt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Application tracking helps students monitor the status of their job applications in real time.</a:t>
            </a:r>
          </a:p>
          <a:p>
            <a:pPr marL="457200" indent="-457200">
              <a:buFont typeface="Wingdings" panose="05000000000000000000" charset="0"/>
              <a:buChar char="Ø"/>
            </a:pPr>
            <a:endParaRPr lang="en-US" alt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Role-based authentication ensures secure access for Students, Employers, and Admins.</a:t>
            </a:r>
          </a:p>
          <a:p>
            <a:pPr marL="457200" indent="-457200">
              <a:buFont typeface="Wingdings" panose="05000000000000000000" charset="0"/>
              <a:buChar char="Ø"/>
            </a:pPr>
            <a:endParaRPr lang="en-US" alt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rPr>
              <a:t>Compared to traditional manual systems, it offers faster processing, better organization, and improved recruitment efficiency</a:t>
            </a:r>
            <a:r>
              <a:rPr lang="en-US" altLang="en-US" sz="3200" dirty="0">
                <a:latin typeface="Times New Roman" panose="02020603050405020304" pitchFamily="18" charset="0"/>
                <a:cs typeface="Times New Roman" panose="02020603050405020304" pitchFamily="18" charset="0"/>
              </a:rPr>
              <a:t>.</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p:cNvSpPr txBox="1"/>
          <p:nvPr/>
        </p:nvSpPr>
        <p:spPr>
          <a:xfrm>
            <a:off x="76044" y="26395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9448165"/>
          </a:xfrm>
          <a:prstGeom prst="rect">
            <a:avLst/>
          </a:prstGeom>
          <a:noFill/>
        </p:spPr>
        <p:txBody>
          <a:bodyPr wrap="square" rtlCol="0">
            <a:spAutoFit/>
          </a:bodyPr>
          <a:lstStyle/>
          <a:p>
            <a:pPr indent="0">
              <a:buFontTx/>
              <a:buNone/>
            </a:pPr>
            <a:r>
              <a:rPr lang="en-US" altLang="en-US" sz="3200" b="1" dirty="0">
                <a:latin typeface="Times New Roman" panose="02020603050405020304" pitchFamily="18" charset="0"/>
                <a:cs typeface="Times New Roman" panose="02020603050405020304" pitchFamily="18" charset="0"/>
              </a:rPr>
              <a:t>Input:</a:t>
            </a:r>
            <a:r>
              <a:rPr lang="en-US" altLang="en-US" sz="3200" dirty="0">
                <a:latin typeface="Times New Roman" panose="02020603050405020304" pitchFamily="18" charset="0"/>
                <a:cs typeface="Times New Roman" panose="02020603050405020304" pitchFamily="18" charset="0"/>
              </a:rPr>
              <a:t> Students, Employers, and Admins enter details such as login data, job posts, resumes, and applications.</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indent="0">
              <a:buFontTx/>
              <a:buNone/>
            </a:pPr>
            <a:r>
              <a:rPr lang="en-US" altLang="en-US" sz="3200" b="1" dirty="0">
                <a:latin typeface="Times New Roman" panose="02020603050405020304" pitchFamily="18" charset="0"/>
                <a:cs typeface="Times New Roman" panose="02020603050405020304" pitchFamily="18" charset="0"/>
              </a:rPr>
              <a:t>Processing:</a:t>
            </a:r>
            <a:r>
              <a:rPr lang="en-US" altLang="en-US" sz="3200" dirty="0">
                <a:latin typeface="Times New Roman" panose="02020603050405020304" pitchFamily="18" charset="0"/>
                <a:cs typeface="Times New Roman" panose="02020603050405020304" pitchFamily="18" charset="0"/>
              </a:rPr>
              <a:t> Spring Boot processes the request using Controller, Service, and Repository layers.</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indent="0">
              <a:buFontTx/>
              <a:buNone/>
            </a:pPr>
            <a:r>
              <a:rPr lang="en-US" altLang="en-US" sz="3200" b="1" dirty="0">
                <a:latin typeface="Times New Roman" panose="02020603050405020304" pitchFamily="18" charset="0"/>
                <a:cs typeface="Times New Roman" panose="02020603050405020304" pitchFamily="18" charset="0"/>
              </a:rPr>
              <a:t>Database:</a:t>
            </a:r>
            <a:r>
              <a:rPr lang="en-US" altLang="en-US" sz="3200" dirty="0">
                <a:latin typeface="Times New Roman" panose="02020603050405020304" pitchFamily="18" charset="0"/>
                <a:cs typeface="Times New Roman" panose="02020603050405020304" pitchFamily="18" charset="0"/>
              </a:rPr>
              <a:t> MySQL stores users, jobs, resumes, and application records.</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indent="0">
              <a:buFontTx/>
              <a:buNone/>
            </a:pPr>
            <a:r>
              <a:rPr lang="en-US" altLang="en-US" sz="3200" b="1" dirty="0">
                <a:latin typeface="Times New Roman" panose="02020603050405020304" pitchFamily="18" charset="0"/>
                <a:cs typeface="Times New Roman" panose="02020603050405020304" pitchFamily="18" charset="0"/>
              </a:rPr>
              <a:t>Output:</a:t>
            </a:r>
            <a:r>
              <a:rPr lang="en-US" altLang="en-US" sz="3200" dirty="0">
                <a:latin typeface="Times New Roman" panose="02020603050405020304" pitchFamily="18" charset="0"/>
                <a:cs typeface="Times New Roman" panose="02020603050405020304" pitchFamily="18" charset="0"/>
              </a:rPr>
              <a:t> The system displays job listings, application status, confirmation messages, and admin results.</a:t>
            </a: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descr="ChatGPT Image May 5, 2026, 10_22_21 PM"/>
          <p:cNvPicPr>
            <a:picLocks noChangeAspect="1"/>
          </p:cNvPicPr>
          <p:nvPr/>
        </p:nvPicPr>
        <p:blipFill>
          <a:blip r:embed="rId2"/>
          <a:stretch>
            <a:fillRect/>
          </a:stretch>
        </p:blipFill>
        <p:spPr>
          <a:xfrm>
            <a:off x="11125200" y="1638300"/>
            <a:ext cx="6409055" cy="80086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304800" y="310223"/>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396938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5" name="Picture 4" descr="ChatGPT Image May 5, 2026, 10_25_02 PM"/>
          <p:cNvPicPr>
            <a:picLocks noChangeAspect="1"/>
          </p:cNvPicPr>
          <p:nvPr/>
        </p:nvPicPr>
        <p:blipFill>
          <a:blip r:embed="rId2"/>
          <a:stretch>
            <a:fillRect/>
          </a:stretch>
        </p:blipFill>
        <p:spPr>
          <a:xfrm>
            <a:off x="3124200" y="1412240"/>
            <a:ext cx="10915015" cy="87356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2156440"/>
          </a:xfrm>
          <a:prstGeom prst="rect">
            <a:avLst/>
          </a:prstGeom>
          <a:noFill/>
        </p:spPr>
        <p:txBody>
          <a:bodyPr wrap="square" rtlCol="0">
            <a:spAutoFit/>
          </a:bodyPr>
          <a:lstStyle/>
          <a:p>
            <a:pPr indent="0">
              <a:buFontTx/>
              <a:buNone/>
            </a:pPr>
            <a:r>
              <a:rPr lang="en-US" altLang="en-US" sz="2800" dirty="0"/>
              <a:t>Frontend:</a:t>
            </a:r>
          </a:p>
          <a:p>
            <a:pPr marL="457200" indent="-457200">
              <a:buFont typeface="Arial" panose="020B0604020202020204" pitchFamily="34" charset="0"/>
              <a:buChar char="•"/>
            </a:pPr>
            <a:r>
              <a:rPr lang="en-US" altLang="en-US" sz="2800" dirty="0"/>
              <a:t>HTML5, CSS3, JavaScript, Bootstrap, Thymeleaf</a:t>
            </a:r>
          </a:p>
          <a:p>
            <a:pPr marL="457200" indent="-457200">
              <a:buFont typeface="Arial" panose="020B0604020202020204" pitchFamily="34" charset="0"/>
              <a:buChar char="•"/>
            </a:pPr>
            <a:endParaRPr lang="en-US" altLang="en-US" sz="2800" dirty="0"/>
          </a:p>
          <a:p>
            <a:pPr indent="0">
              <a:buFontTx/>
              <a:buNone/>
            </a:pPr>
            <a:r>
              <a:rPr lang="en-US" altLang="en-US" sz="2800" dirty="0"/>
              <a:t>Backend:</a:t>
            </a:r>
          </a:p>
          <a:p>
            <a:pPr marL="457200" indent="-457200">
              <a:buFont typeface="Arial" panose="020B0604020202020204" pitchFamily="34" charset="0"/>
              <a:buChar char="•"/>
            </a:pPr>
            <a:r>
              <a:rPr lang="en-US" altLang="en-US" sz="2800" dirty="0"/>
              <a:t>Java, Spring Boot, Spring MVC, Spring Security, Spring Data JPA</a:t>
            </a:r>
          </a:p>
          <a:p>
            <a:pPr marL="457200" indent="-457200">
              <a:buFontTx/>
              <a:buChar char="-"/>
            </a:pPr>
            <a:endParaRPr lang="en-US" altLang="en-US" sz="2800" dirty="0"/>
          </a:p>
          <a:p>
            <a:pPr indent="0">
              <a:buFontTx/>
              <a:buNone/>
            </a:pPr>
            <a:r>
              <a:rPr lang="en-US" altLang="en-US" sz="2800" dirty="0"/>
              <a:t>Database:</a:t>
            </a:r>
          </a:p>
          <a:p>
            <a:pPr marL="457200" indent="-457200">
              <a:buFont typeface="Arial" panose="020B0604020202020204" pitchFamily="34" charset="0"/>
              <a:buChar char="•"/>
            </a:pPr>
            <a:r>
              <a:rPr lang="en-US" altLang="en-US" sz="2800" dirty="0"/>
              <a:t>MySQL / H2 Database</a:t>
            </a:r>
          </a:p>
          <a:p>
            <a:pPr marL="457200" indent="-457200">
              <a:buFontTx/>
              <a:buChar char="-"/>
            </a:pPr>
            <a:endParaRPr lang="en-US" altLang="en-US" sz="2800" dirty="0"/>
          </a:p>
          <a:p>
            <a:pPr indent="0">
              <a:buFontTx/>
              <a:buNone/>
            </a:pPr>
            <a:r>
              <a:rPr lang="en-US" altLang="en-US" sz="2800" dirty="0"/>
              <a:t>Third-Party API:</a:t>
            </a:r>
          </a:p>
          <a:p>
            <a:pPr marL="457200" indent="-457200">
              <a:buFont typeface="Arial" panose="020B0604020202020204" pitchFamily="34" charset="0"/>
              <a:buChar char="•"/>
            </a:pPr>
            <a:r>
              <a:rPr lang="en-US" altLang="en-US" sz="2800" dirty="0"/>
              <a:t>OTP/SMS API, Map API</a:t>
            </a:r>
          </a:p>
          <a:p>
            <a:pPr marL="457200" indent="-457200">
              <a:buFontTx/>
              <a:buChar char="-"/>
            </a:pPr>
            <a:endParaRPr lang="en-US" altLang="en-US" sz="2800" dirty="0"/>
          </a:p>
          <a:p>
            <a:pPr indent="0">
              <a:buFontTx/>
              <a:buNone/>
            </a:pPr>
            <a:r>
              <a:rPr lang="en-US" altLang="en-US" sz="2800" dirty="0"/>
              <a:t>Tools:</a:t>
            </a:r>
          </a:p>
          <a:p>
            <a:pPr marL="457200" indent="-457200">
              <a:buFont typeface="Arial" panose="020B0604020202020204" pitchFamily="34" charset="0"/>
              <a:buChar char="•"/>
            </a:pPr>
            <a:r>
              <a:rPr lang="en-US" altLang="en-US" sz="2800" dirty="0"/>
              <a:t>VS Code, Maven, Postman, Git, Web Browser</a:t>
            </a:r>
          </a:p>
          <a:p>
            <a:pPr marL="457200" indent="-457200">
              <a:buFont typeface="Arial" panose="020B0604020202020204" pitchFamily="34" charset="0"/>
              <a:buChar char="•"/>
            </a:pPr>
            <a:endParaRPr lang="en-US" altLang="en-US" sz="2800" dirty="0"/>
          </a:p>
          <a:p>
            <a:pPr indent="0">
              <a:buFontTx/>
              <a:buNone/>
            </a:pPr>
            <a:r>
              <a:rPr lang="en-US" altLang="en-US" sz="2800" dirty="0"/>
              <a:t>Hardware/Software Requirements:</a:t>
            </a:r>
          </a:p>
          <a:p>
            <a:pPr marL="457200" indent="-457200">
              <a:buFont typeface="Arial" panose="020B0604020202020204" pitchFamily="34" charset="0"/>
              <a:buChar char="•"/>
            </a:pPr>
            <a:r>
              <a:rPr lang="en-US" altLang="en-US" sz="2800" dirty="0"/>
              <a:t>Windows 10/11, Java JDK, Maven, MySQL Server, VS Code, Chrome Browser, minimum 4GB RAM.</a:t>
            </a:r>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72534"/>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133600" y="1257300"/>
            <a:ext cx="15082325" cy="8278495"/>
          </a:xfrm>
          <a:prstGeom prst="rect">
            <a:avLst/>
          </a:prstGeom>
          <a:noFill/>
        </p:spPr>
        <p:txBody>
          <a:bodyPr wrap="square" rtlCol="0">
            <a:spAutoFit/>
          </a:bodyPr>
          <a:lstStyle/>
          <a:p>
            <a:r>
              <a:rPr lang="en-US" altLang="en-US" sz="2800" b="1" dirty="0">
                <a:latin typeface="Times New Roman" panose="02020603050405020304" pitchFamily="18" charset="0"/>
                <a:cs typeface="Times New Roman" panose="02020603050405020304" pitchFamily="18" charset="0"/>
              </a:rPr>
              <a:t>Module 1: User Management</a:t>
            </a:r>
          </a:p>
          <a:p>
            <a:r>
              <a:rPr lang="en-US" altLang="en-US" sz="2800" dirty="0">
                <a:latin typeface="Times New Roman" panose="02020603050405020304" pitchFamily="18" charset="0"/>
                <a:cs typeface="Times New Roman" panose="02020603050405020304" pitchFamily="18" charset="0"/>
              </a:rPr>
              <a:t>Handles student, employer, and admin registration, login, profile creation, and secure authentication with role-based access control.</a:t>
            </a:r>
          </a:p>
          <a:p>
            <a:endParaRPr lang="en-US" altLang="en-US" sz="2800" dirty="0">
              <a:latin typeface="Times New Roman" panose="02020603050405020304" pitchFamily="18" charset="0"/>
              <a:cs typeface="Times New Roman" panose="02020603050405020304" pitchFamily="18" charset="0"/>
            </a:endParaRPr>
          </a:p>
          <a:p>
            <a:r>
              <a:rPr lang="en-US" altLang="en-US" sz="2800" b="1" dirty="0">
                <a:latin typeface="Times New Roman" panose="02020603050405020304" pitchFamily="18" charset="0"/>
                <a:cs typeface="Times New Roman" panose="02020603050405020304" pitchFamily="18" charset="0"/>
              </a:rPr>
              <a:t>Module 2: Job Management</a:t>
            </a:r>
          </a:p>
          <a:p>
            <a:r>
              <a:rPr lang="en-US" altLang="en-US" sz="2800" dirty="0">
                <a:latin typeface="Times New Roman" panose="02020603050405020304" pitchFamily="18" charset="0"/>
                <a:cs typeface="Times New Roman" panose="02020603050405020304" pitchFamily="18" charset="0"/>
              </a:rPr>
              <a:t>Allows employers to create, update, delete, and manage job postings with details such as title, description, skills, and salary.</a:t>
            </a:r>
          </a:p>
          <a:p>
            <a:endParaRPr lang="en-US" altLang="en-US" sz="2800" dirty="0">
              <a:latin typeface="Times New Roman" panose="02020603050405020304" pitchFamily="18" charset="0"/>
              <a:cs typeface="Times New Roman" panose="02020603050405020304" pitchFamily="18" charset="0"/>
            </a:endParaRPr>
          </a:p>
          <a:p>
            <a:r>
              <a:rPr lang="en-US" altLang="en-US" sz="2800" b="1" dirty="0">
                <a:latin typeface="Times New Roman" panose="02020603050405020304" pitchFamily="18" charset="0"/>
                <a:cs typeface="Times New Roman" panose="02020603050405020304" pitchFamily="18" charset="0"/>
              </a:rPr>
              <a:t>Module 3: Application Processing</a:t>
            </a:r>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Enables students to apply for jobs, upload resumes, and track application status throughout the recruitment process.</a:t>
            </a:r>
          </a:p>
          <a:p>
            <a:endParaRPr lang="en-US" altLang="en-US" sz="2800" dirty="0">
              <a:latin typeface="Times New Roman" panose="02020603050405020304" pitchFamily="18" charset="0"/>
              <a:cs typeface="Times New Roman" panose="02020603050405020304" pitchFamily="18" charset="0"/>
            </a:endParaRPr>
          </a:p>
          <a:p>
            <a:r>
              <a:rPr lang="en-US" altLang="en-US" sz="2800" b="1" dirty="0">
                <a:latin typeface="Times New Roman" panose="02020603050405020304" pitchFamily="18" charset="0"/>
                <a:cs typeface="Times New Roman" panose="02020603050405020304" pitchFamily="18" charset="0"/>
              </a:rPr>
              <a:t>Module 4: OTP Verification</a:t>
            </a:r>
          </a:p>
          <a:p>
            <a:r>
              <a:rPr lang="en-US" altLang="en-US" sz="2800" dirty="0">
                <a:latin typeface="Times New Roman" panose="02020603050405020304" pitchFamily="18" charset="0"/>
                <a:cs typeface="Times New Roman" panose="02020603050405020304" pitchFamily="18" charset="0"/>
              </a:rPr>
              <a:t>Implements OTP-based verification and Spring Security authentication to ensure secure user access and prevent unauthorized actions.</a:t>
            </a:r>
          </a:p>
          <a:p>
            <a:endParaRPr lang="en-US" altLang="en-US" sz="2800" dirty="0">
              <a:latin typeface="Times New Roman" panose="02020603050405020304" pitchFamily="18" charset="0"/>
              <a:cs typeface="Times New Roman" panose="02020603050405020304" pitchFamily="18" charset="0"/>
            </a:endParaRPr>
          </a:p>
          <a:p>
            <a:r>
              <a:rPr lang="en-US" altLang="en-US" sz="2800" b="1" dirty="0">
                <a:latin typeface="Times New Roman" panose="02020603050405020304" pitchFamily="18" charset="0"/>
                <a:cs typeface="Times New Roman" panose="02020603050405020304" pitchFamily="18" charset="0"/>
              </a:rPr>
              <a:t>Module 5: Reporting &amp; Analytics</a:t>
            </a:r>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Generates recruitment reports, applicant statistics, and placement insights for administrators and employers.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76200" y="361315"/>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10063480"/>
          </a:xfrm>
          <a:prstGeom prst="rect">
            <a:avLst/>
          </a:prstGeom>
          <a:noFill/>
        </p:spPr>
        <p:txBody>
          <a:bodyPr wrap="square" rtlCol="0">
            <a:spAutoFit/>
          </a:bodyPr>
          <a:lstStyle/>
          <a:p>
            <a:pPr indent="0">
              <a:buFontTx/>
              <a:buNone/>
            </a:pPr>
            <a:r>
              <a:rPr lang="en-US" sz="3200" b="1" dirty="0">
                <a:latin typeface="Times New Roman" panose="02020603050405020304" pitchFamily="18" charset="0"/>
                <a:cs typeface="Times New Roman" panose="02020603050405020304" pitchFamily="18" charset="0"/>
              </a:rPr>
              <a:t>Home page</a:t>
            </a:r>
            <a:r>
              <a:rPr lang="en-IN" altLang="en-US" sz="3200" b="1"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Displays the landing interface of the recruitment portal with navigation menus and quick access to explore available job opportunities.</a:t>
            </a: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Provides users with an attractive overview of the platform and entry points for job search/login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r>
              <a:rPr lang="en-IN" altLang="en-US" sz="2800" dirty="0"/>
              <a:t>                                                                                              </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descr="WhatsApp Image 2026-05-05 at 10.02.31 PM"/>
          <p:cNvPicPr>
            <a:picLocks noChangeAspect="1"/>
          </p:cNvPicPr>
          <p:nvPr/>
        </p:nvPicPr>
        <p:blipFill>
          <a:blip r:embed="rId2"/>
          <a:stretch>
            <a:fillRect/>
          </a:stretch>
        </p:blipFill>
        <p:spPr>
          <a:xfrm>
            <a:off x="3276600" y="3619500"/>
            <a:ext cx="12709525" cy="58553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6924040"/>
          </a:xfrm>
          <a:prstGeom prst="rect">
            <a:avLst/>
          </a:prstGeom>
          <a:noFill/>
        </p:spPr>
        <p:txBody>
          <a:bodyPr wrap="square" rtlCol="0">
            <a:spAutoFit/>
          </a:bodyPr>
          <a:lstStyle/>
          <a:p>
            <a:pPr indent="0">
              <a:buFontTx/>
              <a:buNone/>
            </a:pPr>
            <a:r>
              <a:rPr lang="en-US" altLang="en-US" sz="3200" b="1" dirty="0">
                <a:latin typeface="Times New Roman" panose="02020603050405020304" pitchFamily="18" charset="0"/>
                <a:cs typeface="Times New Roman" panose="02020603050405020304" pitchFamily="18" charset="0"/>
              </a:rPr>
              <a:t>Job Listings Page</a:t>
            </a: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Shows available job opportunities with details such as title, location, salary, and experience.</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Helps users browse and select suitable job openings efficiently</a:t>
            </a:r>
          </a:p>
          <a:p>
            <a:pPr marL="457200" indent="-45720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WhatsApp Image 2026-05-05 at 10.02.36 PM"/>
          <p:cNvPicPr>
            <a:picLocks noChangeAspect="1"/>
          </p:cNvPicPr>
          <p:nvPr/>
        </p:nvPicPr>
        <p:blipFill>
          <a:blip r:embed="rId2"/>
          <a:stretch>
            <a:fillRect/>
          </a:stretch>
        </p:blipFill>
        <p:spPr>
          <a:xfrm>
            <a:off x="3886200" y="3619500"/>
            <a:ext cx="11612880" cy="5486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74190" y="543560"/>
            <a:ext cx="13389610" cy="368300"/>
          </a:xfrm>
          <a:prstGeom prst="rect">
            <a:avLst/>
          </a:prstGeom>
          <a:noFill/>
        </p:spPr>
        <p:txBody>
          <a:bodyPr wrap="square" rtlCol="0">
            <a:spAutoFit/>
          </a:bodyPr>
          <a:lstStyle/>
          <a:p>
            <a:endParaRPr lang="en-US"/>
          </a:p>
        </p:txBody>
      </p:sp>
      <p:sp>
        <p:nvSpPr>
          <p:cNvPr id="3" name="Text Box 2"/>
          <p:cNvSpPr txBox="1"/>
          <p:nvPr/>
        </p:nvSpPr>
        <p:spPr>
          <a:xfrm>
            <a:off x="2381250" y="387985"/>
            <a:ext cx="12553950" cy="1568450"/>
          </a:xfrm>
          <a:prstGeom prst="rect">
            <a:avLst/>
          </a:prstGeom>
          <a:noFill/>
        </p:spPr>
        <p:txBody>
          <a:bodyPr wrap="square" rtlCol="0">
            <a:spAutoFit/>
          </a:bodyPr>
          <a:lstStyle/>
          <a:p>
            <a:r>
              <a:rPr lang="en-IN" altLang="en-US" sz="3600" b="1" dirty="0">
                <a:solidFill>
                  <a:srgbClr val="0033CC"/>
                </a:solidFill>
                <a:latin typeface="Times New Roman" panose="02020603050405020304" pitchFamily="18" charset="0"/>
                <a:cs typeface="Times New Roman" panose="02020603050405020304" pitchFamily="18" charset="0"/>
                <a:sym typeface="+mn-ea"/>
              </a:rPr>
              <a:t>  </a:t>
            </a:r>
            <a:r>
              <a:rPr lang="en-IN" altLang="en-US" sz="4800" b="1" dirty="0">
                <a:solidFill>
                  <a:srgbClr val="0033CC"/>
                </a:solidFill>
                <a:latin typeface="Times New Roman" panose="02020603050405020304" pitchFamily="18" charset="0"/>
                <a:cs typeface="Times New Roman" panose="02020603050405020304" pitchFamily="18" charset="0"/>
                <a:sym typeface="+mn-ea"/>
              </a:rPr>
              <a:t> </a:t>
            </a:r>
            <a:r>
              <a:rPr lang="en-US" sz="4800" b="1" dirty="0">
                <a:solidFill>
                  <a:srgbClr val="0033CC"/>
                </a:solidFill>
                <a:latin typeface="Times New Roman" panose="02020603050405020304" pitchFamily="18" charset="0"/>
                <a:cs typeface="Times New Roman" panose="02020603050405020304" pitchFamily="18" charset="0"/>
                <a:sym typeface="+mn-ea"/>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a:p>
            <a:endParaRPr lang="en-US" sz="4800"/>
          </a:p>
        </p:txBody>
      </p:sp>
      <p:sp>
        <p:nvSpPr>
          <p:cNvPr id="4" name="Text Box 3"/>
          <p:cNvSpPr txBox="1"/>
          <p:nvPr/>
        </p:nvSpPr>
        <p:spPr>
          <a:xfrm>
            <a:off x="949325" y="1322070"/>
            <a:ext cx="15890875" cy="7740015"/>
          </a:xfrm>
          <a:prstGeom prst="rect">
            <a:avLst/>
          </a:prstGeom>
          <a:noFill/>
        </p:spPr>
        <p:txBody>
          <a:bodyPr wrap="square" rtlCol="0">
            <a:noAutofit/>
          </a:bodyPr>
          <a:lstStyle/>
          <a:p>
            <a:r>
              <a:rPr lang="en-US" altLang="en-US" sz="3200" b="1">
                <a:latin typeface="Times New Roman" panose="02020603050405020304" pitchFamily="18" charset="0"/>
                <a:cs typeface="Times New Roman" panose="02020603050405020304" pitchFamily="18" charset="0"/>
              </a:rPr>
              <a:t>Job Details Page</a:t>
            </a:r>
            <a:r>
              <a:rPr lang="en-IN" altLang="en-US" sz="3200" b="1">
                <a:latin typeface="Times New Roman" panose="02020603050405020304" pitchFamily="18" charset="0"/>
                <a:cs typeface="Times New Roman" panose="02020603050405020304" pitchFamily="18" charset="0"/>
              </a:rPr>
              <a:t>:</a:t>
            </a:r>
            <a:endParaRPr lang="en-US" alt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Displays complete details of the selected job including salary, timings, and workplace rules.</a:t>
            </a:r>
          </a:p>
          <a:p>
            <a:pPr marL="457200" indent="-457200">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Allows users to review requirements before proceeding with the application.</a:t>
            </a:r>
            <a:endParaRPr lang="en-IN" altLang="en-US" sz="3200">
              <a:latin typeface="Times New Roman" panose="02020603050405020304" pitchFamily="18" charset="0"/>
              <a:cs typeface="Times New Roman" panose="02020603050405020304" pitchFamily="18" charset="0"/>
            </a:endParaRPr>
          </a:p>
        </p:txBody>
      </p:sp>
      <p:pic>
        <p:nvPicPr>
          <p:cNvPr id="6" name="Picture 5" descr="WhatsApp Image 2026-05-05 at 10.02.28 PM"/>
          <p:cNvPicPr>
            <a:picLocks noChangeAspect="1"/>
          </p:cNvPicPr>
          <p:nvPr/>
        </p:nvPicPr>
        <p:blipFill>
          <a:blip r:embed="rId2"/>
          <a:stretch>
            <a:fillRect/>
          </a:stretch>
        </p:blipFill>
        <p:spPr>
          <a:xfrm>
            <a:off x="3048000" y="3543300"/>
            <a:ext cx="11039475" cy="50469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895600" y="571500"/>
            <a:ext cx="13208635" cy="1568450"/>
          </a:xfrm>
          <a:prstGeom prst="rect">
            <a:avLst/>
          </a:prstGeom>
          <a:noFill/>
        </p:spPr>
        <p:txBody>
          <a:bodyPr wrap="square" rtlCol="0">
            <a:spAutoFit/>
          </a:bodyPr>
          <a:lstStyle/>
          <a:p>
            <a:r>
              <a:rPr lang="en-IN" altLang="en-US" b="1" dirty="0">
                <a:solidFill>
                  <a:srgbClr val="0033CC"/>
                </a:solidFill>
                <a:latin typeface="Times New Roman" panose="02020603050405020304" pitchFamily="18" charset="0"/>
                <a:cs typeface="Times New Roman" panose="02020603050405020304" pitchFamily="18" charset="0"/>
                <a:sym typeface="+mn-ea"/>
              </a:rPr>
              <a:t>  </a:t>
            </a:r>
            <a:r>
              <a:rPr lang="en-IN" altLang="en-US" sz="4800" b="1" dirty="0">
                <a:solidFill>
                  <a:srgbClr val="0033CC"/>
                </a:solidFill>
                <a:latin typeface="Times New Roman" panose="02020603050405020304" pitchFamily="18" charset="0"/>
                <a:cs typeface="Times New Roman" panose="02020603050405020304" pitchFamily="18" charset="0"/>
                <a:sym typeface="+mn-ea"/>
              </a:rPr>
              <a:t> </a:t>
            </a:r>
            <a:r>
              <a:rPr lang="en-US" sz="4800" b="1" dirty="0">
                <a:solidFill>
                  <a:srgbClr val="0033CC"/>
                </a:solidFill>
                <a:latin typeface="Times New Roman" panose="02020603050405020304" pitchFamily="18" charset="0"/>
                <a:cs typeface="Times New Roman" panose="02020603050405020304" pitchFamily="18" charset="0"/>
                <a:sym typeface="+mn-ea"/>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a:p>
            <a:endParaRPr lang="en-US" sz="4800"/>
          </a:p>
        </p:txBody>
      </p:sp>
      <p:pic>
        <p:nvPicPr>
          <p:cNvPr id="3" name="Picture 2" descr="WhatsApp Image 2026-05-05 at 10.02.37 PM"/>
          <p:cNvPicPr>
            <a:picLocks noChangeAspect="1"/>
          </p:cNvPicPr>
          <p:nvPr/>
        </p:nvPicPr>
        <p:blipFill>
          <a:blip r:embed="rId2"/>
          <a:stretch>
            <a:fillRect/>
          </a:stretch>
        </p:blipFill>
        <p:spPr>
          <a:xfrm>
            <a:off x="3103245" y="3606165"/>
            <a:ext cx="11008995" cy="5118735"/>
          </a:xfrm>
          <a:prstGeom prst="rect">
            <a:avLst/>
          </a:prstGeom>
        </p:spPr>
      </p:pic>
      <p:sp>
        <p:nvSpPr>
          <p:cNvPr id="6" name="Text Box 5"/>
          <p:cNvSpPr txBox="1"/>
          <p:nvPr/>
        </p:nvSpPr>
        <p:spPr>
          <a:xfrm>
            <a:off x="1276350" y="1539875"/>
            <a:ext cx="16173450" cy="1568450"/>
          </a:xfrm>
          <a:prstGeom prst="rect">
            <a:avLst/>
          </a:prstGeom>
          <a:noFill/>
        </p:spPr>
        <p:txBody>
          <a:bodyPr wrap="square" rtlCol="0">
            <a:spAutoFit/>
          </a:bodyPr>
          <a:lstStyle/>
          <a:p>
            <a:r>
              <a:rPr lang="en-US" altLang="en-US" sz="3200" b="1">
                <a:latin typeface="Times New Roman" panose="02020603050405020304" pitchFamily="18" charset="0"/>
                <a:cs typeface="Times New Roman" panose="02020603050405020304" pitchFamily="18" charset="0"/>
              </a:rPr>
              <a:t>Application Form Page</a:t>
            </a:r>
            <a:endParaRPr lang="en-US" alt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Collects applicant details such as name, age, phone number, and resume upload.</a:t>
            </a:r>
          </a:p>
          <a:p>
            <a:pPr marL="457200" indent="-457200">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Ensures all required information is submitted before proceeding to verification.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832735" y="495300"/>
            <a:ext cx="12635865" cy="1383665"/>
          </a:xfrm>
          <a:prstGeom prst="rect">
            <a:avLst/>
          </a:prstGeom>
          <a:noFill/>
        </p:spPr>
        <p:txBody>
          <a:bodyPr wrap="square" rtlCol="0">
            <a:spAutoFit/>
          </a:bodyPr>
          <a:lstStyle/>
          <a:p>
            <a:r>
              <a:rPr lang="en-IN" altLang="en-US" b="1" dirty="0">
                <a:solidFill>
                  <a:srgbClr val="0033CC"/>
                </a:solidFill>
                <a:latin typeface="Times New Roman" panose="02020603050405020304" pitchFamily="18" charset="0"/>
                <a:cs typeface="Times New Roman" panose="02020603050405020304" pitchFamily="18" charset="0"/>
                <a:sym typeface="+mn-ea"/>
              </a:rPr>
              <a:t> </a:t>
            </a:r>
            <a:r>
              <a:rPr lang="en-IN" altLang="en-US" sz="4800" b="1" dirty="0">
                <a:solidFill>
                  <a:srgbClr val="0033CC"/>
                </a:solidFill>
                <a:latin typeface="Times New Roman" panose="02020603050405020304" pitchFamily="18" charset="0"/>
                <a:cs typeface="Times New Roman" panose="02020603050405020304" pitchFamily="18" charset="0"/>
                <a:sym typeface="+mn-ea"/>
              </a:rPr>
              <a:t>  </a:t>
            </a:r>
            <a:r>
              <a:rPr lang="en-US" sz="4800" b="1" dirty="0">
                <a:solidFill>
                  <a:srgbClr val="0033CC"/>
                </a:solidFill>
                <a:latin typeface="Times New Roman" panose="02020603050405020304" pitchFamily="18" charset="0"/>
                <a:cs typeface="Times New Roman" panose="02020603050405020304" pitchFamily="18" charset="0"/>
                <a:sym typeface="+mn-ea"/>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a:p>
            <a:endParaRPr lang="en-US"/>
          </a:p>
          <a:p>
            <a:endParaRPr lang="en-US"/>
          </a:p>
        </p:txBody>
      </p:sp>
      <p:pic>
        <p:nvPicPr>
          <p:cNvPr id="3" name="Picture 2" descr="WhatsApp Image 2026-05-05 at 10.02.43 PM"/>
          <p:cNvPicPr>
            <a:picLocks noChangeAspect="1"/>
          </p:cNvPicPr>
          <p:nvPr/>
        </p:nvPicPr>
        <p:blipFill>
          <a:blip r:embed="rId2"/>
          <a:stretch>
            <a:fillRect/>
          </a:stretch>
        </p:blipFill>
        <p:spPr>
          <a:xfrm>
            <a:off x="3319145" y="3467100"/>
            <a:ext cx="11649710" cy="5283200"/>
          </a:xfrm>
          <a:prstGeom prst="rect">
            <a:avLst/>
          </a:prstGeom>
        </p:spPr>
      </p:pic>
      <p:sp>
        <p:nvSpPr>
          <p:cNvPr id="4" name="Text Box 3"/>
          <p:cNvSpPr txBox="1"/>
          <p:nvPr/>
        </p:nvSpPr>
        <p:spPr>
          <a:xfrm>
            <a:off x="1431925" y="1539875"/>
            <a:ext cx="13808075" cy="1568450"/>
          </a:xfrm>
          <a:prstGeom prst="rect">
            <a:avLst/>
          </a:prstGeom>
          <a:noFill/>
        </p:spPr>
        <p:txBody>
          <a:bodyPr wrap="square" rtlCol="0">
            <a:spAutoFit/>
          </a:bodyPr>
          <a:lstStyle/>
          <a:p>
            <a:r>
              <a:rPr lang="en-US" altLang="en-US" sz="3200" b="1">
                <a:latin typeface="Times New Roman" panose="02020603050405020304" pitchFamily="18" charset="0"/>
                <a:cs typeface="Times New Roman" panose="02020603050405020304" pitchFamily="18" charset="0"/>
              </a:rPr>
              <a:t>OTP Verification Page</a:t>
            </a:r>
            <a:r>
              <a:rPr lang="en-IN" altLang="en-US" sz="3200" b="1">
                <a:latin typeface="Times New Roman" panose="02020603050405020304" pitchFamily="18" charset="0"/>
                <a:cs typeface="Times New Roman" panose="02020603050405020304" pitchFamily="18" charset="0"/>
              </a:rPr>
              <a:t>:</a:t>
            </a:r>
            <a:endParaRPr lang="en-US" alt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Verifies the applicant’s phone number using OTP-based authentication.</a:t>
            </a:r>
          </a:p>
          <a:p>
            <a:pPr marL="457200" indent="-457200">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Enhances security and prevents unauthorized application submissions.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96895" y="512445"/>
            <a:ext cx="11762105" cy="1660525"/>
          </a:xfrm>
          <a:prstGeom prst="rect">
            <a:avLst/>
          </a:prstGeom>
          <a:noFill/>
        </p:spPr>
        <p:txBody>
          <a:bodyPr wrap="square" rtlCol="0">
            <a:spAutoFit/>
          </a:bodyPr>
          <a:lstStyle/>
          <a:p>
            <a:r>
              <a:rPr lang="en-IN" altLang="en-US" b="1" dirty="0">
                <a:solidFill>
                  <a:srgbClr val="0033CC"/>
                </a:solidFill>
                <a:latin typeface="Times New Roman" panose="02020603050405020304" pitchFamily="18" charset="0"/>
                <a:cs typeface="Times New Roman" panose="02020603050405020304" pitchFamily="18" charset="0"/>
                <a:sym typeface="+mn-ea"/>
              </a:rPr>
              <a:t>  </a:t>
            </a:r>
            <a:r>
              <a:rPr lang="en-IN" altLang="en-US" sz="4800" b="1" dirty="0">
                <a:solidFill>
                  <a:srgbClr val="0033CC"/>
                </a:solidFill>
                <a:latin typeface="Times New Roman" panose="02020603050405020304" pitchFamily="18" charset="0"/>
                <a:cs typeface="Times New Roman" panose="02020603050405020304" pitchFamily="18" charset="0"/>
                <a:sym typeface="+mn-ea"/>
              </a:rPr>
              <a:t> </a:t>
            </a:r>
            <a:r>
              <a:rPr lang="en-US" sz="4800" b="1" dirty="0">
                <a:solidFill>
                  <a:srgbClr val="0033CC"/>
                </a:solidFill>
                <a:latin typeface="Times New Roman" panose="02020603050405020304" pitchFamily="18" charset="0"/>
                <a:cs typeface="Times New Roman" panose="02020603050405020304" pitchFamily="18" charset="0"/>
                <a:sym typeface="+mn-ea"/>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a:p>
            <a:endParaRPr lang="en-US"/>
          </a:p>
          <a:p>
            <a:endParaRPr lang="en-US"/>
          </a:p>
          <a:p>
            <a:endParaRPr lang="en-US"/>
          </a:p>
        </p:txBody>
      </p:sp>
      <p:pic>
        <p:nvPicPr>
          <p:cNvPr id="3" name="Picture 2" descr="WhatsApp Image 2026-05-05 at 10.02.38 PM"/>
          <p:cNvPicPr>
            <a:picLocks noChangeAspect="1"/>
          </p:cNvPicPr>
          <p:nvPr/>
        </p:nvPicPr>
        <p:blipFill>
          <a:blip r:embed="rId2"/>
          <a:stretch>
            <a:fillRect/>
          </a:stretch>
        </p:blipFill>
        <p:spPr>
          <a:xfrm>
            <a:off x="5495290" y="3314700"/>
            <a:ext cx="6965950" cy="6650990"/>
          </a:xfrm>
          <a:prstGeom prst="rect">
            <a:avLst/>
          </a:prstGeom>
        </p:spPr>
      </p:pic>
      <p:sp>
        <p:nvSpPr>
          <p:cNvPr id="4" name="Text Box 3"/>
          <p:cNvSpPr txBox="1"/>
          <p:nvPr/>
        </p:nvSpPr>
        <p:spPr>
          <a:xfrm>
            <a:off x="1820545" y="1788795"/>
            <a:ext cx="13267055" cy="1568450"/>
          </a:xfrm>
          <a:prstGeom prst="rect">
            <a:avLst/>
          </a:prstGeom>
          <a:noFill/>
        </p:spPr>
        <p:txBody>
          <a:bodyPr wrap="square" rtlCol="0">
            <a:spAutoFit/>
          </a:bodyPr>
          <a:lstStyle/>
          <a:p>
            <a:r>
              <a:rPr lang="en-US" altLang="en-US" sz="3200" b="1">
                <a:latin typeface="Times New Roman" panose="02020603050405020304" pitchFamily="18" charset="0"/>
                <a:cs typeface="Times New Roman" panose="02020603050405020304" pitchFamily="18" charset="0"/>
              </a:rPr>
              <a:t>Application Success Page</a:t>
            </a:r>
            <a:r>
              <a:rPr lang="en-IN" altLang="en-US" sz="3200" b="1">
                <a:latin typeface="Times New Roman" panose="02020603050405020304" pitchFamily="18" charset="0"/>
                <a:cs typeface="Times New Roman" panose="02020603050405020304" pitchFamily="18" charset="0"/>
              </a:rPr>
              <a:t>:</a:t>
            </a:r>
            <a:endParaRPr lang="en-US" altLang="en-US" sz="32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Displays confirmation message after successful job application submission.</a:t>
            </a:r>
          </a:p>
          <a:p>
            <a:pPr marL="457200" indent="-457200">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Notifies the user that the application has been received by the HR team.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5330" y="1203325"/>
            <a:ext cx="14834870" cy="6985635"/>
          </a:xfrm>
          <a:prstGeom prst="rect">
            <a:avLst/>
          </a:prstGeom>
          <a:noFill/>
        </p:spPr>
        <p:txBody>
          <a:bodyPr wrap="square" rtlCol="0">
            <a:spAutoFit/>
          </a:bodyPr>
          <a:lstStyle/>
          <a:p>
            <a:endParaRPr lang="en-US" altLang="en-US" sz="2800" b="1">
              <a:latin typeface="Times New Roman" panose="02020603050405020304" pitchFamily="18" charset="0"/>
              <a:cs typeface="Times New Roman" panose="02020603050405020304" pitchFamily="18" charset="0"/>
            </a:endParaRPr>
          </a:p>
          <a:p>
            <a:r>
              <a:rPr lang="en-US" altLang="en-US" sz="2800" b="1">
                <a:latin typeface="Times New Roman" panose="02020603050405020304" pitchFamily="18" charset="0"/>
                <a:cs typeface="Times New Roman" panose="02020603050405020304" pitchFamily="18" charset="0"/>
              </a:rPr>
              <a:t>ADVANTAGES</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Automates the recruitment and placement process, reducing manual work.</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Provides a centralized platform for students, employers, and administrators.</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Enables quick job posting, application submission, and applicant tracking.</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Improves data accuracy and reduces chances of human error.</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Offers secure role-based authentication for different users.</a:t>
            </a:r>
          </a:p>
          <a:p>
            <a:endParaRPr lang="en-US" altLang="en-US" sz="2800" b="1">
              <a:latin typeface="Times New Roman" panose="02020603050405020304" pitchFamily="18" charset="0"/>
              <a:cs typeface="Times New Roman" panose="02020603050405020304" pitchFamily="18" charset="0"/>
            </a:endParaRPr>
          </a:p>
          <a:p>
            <a:endParaRPr lang="en-US" altLang="en-US" sz="2800" b="1">
              <a:latin typeface="Times New Roman" panose="02020603050405020304" pitchFamily="18" charset="0"/>
              <a:cs typeface="Times New Roman" panose="02020603050405020304" pitchFamily="18" charset="0"/>
            </a:endParaRPr>
          </a:p>
          <a:p>
            <a:endParaRPr lang="en-US" altLang="en-US" sz="2800" b="1">
              <a:latin typeface="Times New Roman" panose="02020603050405020304" pitchFamily="18" charset="0"/>
              <a:cs typeface="Times New Roman" panose="02020603050405020304" pitchFamily="18" charset="0"/>
            </a:endParaRPr>
          </a:p>
          <a:p>
            <a:r>
              <a:rPr lang="en-US" altLang="en-US" sz="2800" b="1">
                <a:latin typeface="Times New Roman" panose="02020603050405020304" pitchFamily="18" charset="0"/>
                <a:cs typeface="Times New Roman" panose="02020603050405020304" pitchFamily="18" charset="0"/>
              </a:rPr>
              <a:t>LIMITATIONS</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Requires internet connectivity for system access and operation.</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Initial setup and maintenance require technical knowledge.</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Limited to web access unless a mobile application is developed.</a:t>
            </a:r>
          </a:p>
          <a:p>
            <a:pPr marL="457200" indent="-457200">
              <a:buFont typeface="Wingdings" panose="05000000000000000000" charset="0"/>
              <a:buChar char="Ø"/>
            </a:pPr>
            <a:r>
              <a:rPr lang="en-US" altLang="en-US" sz="2800">
                <a:latin typeface="Times New Roman" panose="02020603050405020304" pitchFamily="18" charset="0"/>
                <a:cs typeface="Times New Roman" panose="02020603050405020304" pitchFamily="18" charset="0"/>
              </a:rPr>
              <a:t>Advanced features like AI recommendations and interview scheduling are not included in the current version</a:t>
            </a:r>
            <a:r>
              <a:rPr lang="en-US" altLang="en-US"/>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1220</Words>
  <Application>Microsoft Office PowerPoint</Application>
  <PresentationFormat>Custom</PresentationFormat>
  <Paragraphs>334</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Cambria</vt:lpstr>
      <vt:lpstr>Arial</vt:lpstr>
      <vt:lpstr>Gotham</vt:lpstr>
      <vt:lpstr>Times New Roman</vt:lpstr>
      <vt:lpstr>Bookman Old Style</vt:lpstr>
      <vt:lpstr>Calibri</vt:lpstr>
      <vt:lpstr>Wingdings</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Admin</dc:creator>
  <cp:lastModifiedBy>Ragini .</cp:lastModifiedBy>
  <cp:revision>17</cp:revision>
  <dcterms:created xsi:type="dcterms:W3CDTF">2006-08-16T00:00:00Z</dcterms:created>
  <dcterms:modified xsi:type="dcterms:W3CDTF">2026-05-05T19:07:01Z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5122FAA306C347D6B940D6008EF51530_13</vt:lpwstr>
  </property>
</Properties>
</file>